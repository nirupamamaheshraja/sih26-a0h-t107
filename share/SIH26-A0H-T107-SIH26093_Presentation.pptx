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Open Sauce Bold" charset="1" panose="00000800000000000000"/>
      <p:regular r:id="rId13"/>
    </p:embeddedFon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  <p:embeddedFont>
      <p:font typeface="Norwester" charset="1" panose="00000506000000000000"/>
      <p:regular r:id="rId16"/>
    </p:embeddedFont>
    <p:embeddedFont>
      <p:font typeface="Alice" charset="1" panose="00000500000000000000"/>
      <p:regular r:id="rId17"/>
    </p:embeddedFont>
    <p:embeddedFont>
      <p:font typeface="Alice Bold" charset="1" panose="00000500000000000000"/>
      <p:regular r:id="rId18"/>
    </p:embeddedFont>
    <p:embeddedFont>
      <p:font typeface="Times New Roman Bold" charset="1" panose="020208030705050203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8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9.jpeg" Type="http://schemas.openxmlformats.org/officeDocument/2006/relationships/image"/><Relationship Id="rId5" Target="../media/image6.jpe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19034" y="1863847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54033" y="3556102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-409323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9126" y="1277283"/>
            <a:ext cx="10049908" cy="89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 ID – 26093</a:t>
            </a:r>
          </a:p>
          <a:p>
            <a:pPr algn="just" marL="651510" indent="-325755" lvl="1">
              <a:lnSpc>
                <a:spcPts val="4644"/>
              </a:lnSpc>
              <a:buFont typeface="Arial"/>
              <a:buChar char="•"/>
            </a:pPr>
            <a:r>
              <a:rPr lang="en-US" b="true" sz="3600" spc="-12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 Title – AI-Based Real-Time Stress and Trauma Assessment Module for Victims/Complainants Accessing NHAA (14566) and Integrated Portal</a:t>
            </a:r>
          </a:p>
          <a:p>
            <a:pPr algn="just" marL="651510" indent="-325755" lvl="1">
              <a:lnSpc>
                <a:spcPts val="4644"/>
              </a:lnSpc>
              <a:buFont typeface="Arial"/>
              <a:buChar char="•"/>
            </a:pPr>
            <a:r>
              <a:rPr lang="en-US" b="true" sz="3600" spc="-12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Theme – Healthtech</a:t>
            </a:r>
          </a:p>
          <a:p>
            <a:pPr algn="just" marL="651510" indent="-325755" lvl="1">
              <a:lnSpc>
                <a:spcPts val="8135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PS Category – Software</a:t>
            </a:r>
          </a:p>
          <a:p>
            <a:pPr algn="just" marL="651510" indent="-325755" lvl="1">
              <a:lnSpc>
                <a:spcPts val="8135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ID – </a:t>
            </a:r>
          </a:p>
          <a:p>
            <a:pPr algn="just" marL="651510" indent="-325755" lvl="1">
              <a:lnSpc>
                <a:spcPts val="8135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Name – JARVIS</a:t>
            </a:r>
          </a:p>
          <a:p>
            <a:pPr algn="just">
              <a:lnSpc>
                <a:spcPts val="8135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5404973" y="2248"/>
            <a:ext cx="2700312" cy="1275036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7150" y="53269"/>
            <a:ext cx="1834361" cy="1834361"/>
          </a:xfrm>
          <a:custGeom>
            <a:avLst/>
            <a:gdLst/>
            <a:ahLst/>
            <a:cxnLst/>
            <a:rect r="r" b="b" t="t" l="l"/>
            <a:pathLst>
              <a:path h="1834361" w="1834361">
                <a:moveTo>
                  <a:pt x="0" y="0"/>
                </a:moveTo>
                <a:lnTo>
                  <a:pt x="1834361" y="0"/>
                </a:lnTo>
                <a:lnTo>
                  <a:pt x="1834361" y="1834361"/>
                </a:lnTo>
                <a:lnTo>
                  <a:pt x="0" y="18343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80" y="970478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739312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124636" y="396849"/>
            <a:ext cx="600062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AI CHATBOT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80" y="2240954"/>
            <a:ext cx="1827422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755" indent="-388877" lvl="1">
              <a:lnSpc>
                <a:spcPts val="4322"/>
              </a:lnSpc>
              <a:buFont typeface="Arial"/>
              <a:buChar char="•"/>
            </a:pPr>
            <a:r>
              <a:rPr lang="en-US" sz="3602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JARVIS is proposing an AI-based interactive assistance system that can continuously interact with a user, understand changes in their emotional state, identify possible risk indicators, and provide appropriate support or escalation when necessary.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2027" y="4582219"/>
            <a:ext cx="9912090" cy="495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AI-based conversational interaction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Real-time audio and video analysis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Basic psychological and emotional assessment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Trauma and relevant medical-history analysis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Mood and sleep monitoring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Emergency SOS functionality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Multilingual and regional-dialect communication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Personalized immediate-care guidance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Risk-level classification</a:t>
            </a:r>
          </a:p>
          <a:p>
            <a:pPr algn="l" marL="712538" indent="-356269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Recovery monitoring and reporting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815027"/>
            <a:ext cx="3061891" cy="75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8"/>
              </a:lnSpc>
            </a:pPr>
            <a:r>
              <a:rPr lang="en-US" sz="439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It combines: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95250" y="-99131"/>
            <a:ext cx="1834361" cy="1834361"/>
          </a:xfrm>
          <a:custGeom>
            <a:avLst/>
            <a:gdLst/>
            <a:ahLst/>
            <a:cxnLst/>
            <a:rect r="r" b="b" t="t" l="l"/>
            <a:pathLst>
              <a:path h="1834361" w="1834361">
                <a:moveTo>
                  <a:pt x="0" y="0"/>
                </a:moveTo>
                <a:lnTo>
                  <a:pt x="1834361" y="0"/>
                </a:lnTo>
                <a:lnTo>
                  <a:pt x="1834361" y="1834361"/>
                </a:lnTo>
                <a:lnTo>
                  <a:pt x="0" y="1834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0478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43721" y="2248"/>
            <a:ext cx="10402368" cy="1714500"/>
            <a:chOff x="0" y="0"/>
            <a:chExt cx="13869825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69825" cy="2286000"/>
            </a:xfrm>
            <a:custGeom>
              <a:avLst/>
              <a:gdLst/>
              <a:ahLst/>
              <a:cxnLst/>
              <a:rect r="r" b="b" t="t" l="l"/>
              <a:pathLst>
                <a:path h="2286000" w="13869825">
                  <a:moveTo>
                    <a:pt x="0" y="0"/>
                  </a:moveTo>
                  <a:lnTo>
                    <a:pt x="13869825" y="0"/>
                  </a:lnTo>
                  <a:lnTo>
                    <a:pt x="13869825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0" t="-163973" r="0" b="-1909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3869825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677400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0" y="751375"/>
            <a:ext cx="7844158" cy="897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7"/>
              </a:lnSpc>
            </a:pPr>
            <a:r>
              <a:rPr lang="en-US" sz="3431" spc="48">
                <a:solidFill>
                  <a:srgbClr val="1F497D"/>
                </a:solidFill>
                <a:latin typeface="Alice Bold"/>
                <a:ea typeface="Alice Bold"/>
                <a:cs typeface="Alice Bold"/>
                <a:sym typeface="Alice Bold"/>
              </a:rPr>
              <a:t>TECHNOLOGIES USED: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2806"/>
              </a:lnSpc>
            </a:pPr>
            <a:r>
              <a:rPr lang="en-US" sz="2954" spc="41">
                <a:solidFill>
                  <a:srgbClr val="C00000"/>
                </a:solidFill>
                <a:latin typeface="Alice"/>
                <a:ea typeface="Alice"/>
                <a:cs typeface="Alice"/>
                <a:sym typeface="Alice"/>
              </a:rPr>
              <a:t>Large Language Models (LLMs) &amp;  </a:t>
            </a:r>
            <a:r>
              <a:rPr lang="en-US" sz="2954" spc="41">
                <a:solidFill>
                  <a:srgbClr val="C00000"/>
                </a:solidFill>
                <a:latin typeface="Alice"/>
                <a:ea typeface="Alice"/>
                <a:cs typeface="Alice"/>
                <a:sym typeface="Alice"/>
              </a:rPr>
              <a:t>Foundation APIs</a:t>
            </a:r>
          </a:p>
          <a:p>
            <a:pPr algn="l" marL="493871" indent="-246935" lvl="1">
              <a:lnSpc>
                <a:spcPts val="3065"/>
              </a:lnSpc>
              <a:buFont typeface="Arial"/>
              <a:buChar char="•"/>
            </a:pPr>
            <a:r>
              <a:rPr lang="en-US" sz="2287" spc="32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OpenAI, Chatgpt 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2668" spc="37">
                <a:solidFill>
                  <a:srgbClr val="C00000"/>
                </a:solidFill>
                <a:latin typeface="Alice"/>
                <a:ea typeface="Alice"/>
                <a:cs typeface="Alice"/>
                <a:sym typeface="Alice"/>
              </a:rPr>
              <a:t>Developer Frameworks &amp; RAG Libraries</a:t>
            </a:r>
          </a:p>
          <a:p>
            <a:pPr algn="l" marL="576181" indent="-288090" lvl="1">
              <a:lnSpc>
                <a:spcPts val="3576"/>
              </a:lnSpc>
              <a:buFont typeface="Arial"/>
              <a:buChar char="•"/>
            </a:pPr>
            <a:r>
              <a:rPr lang="en-US" sz="2668" spc="3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Haystack,lamalndex,longchain,rasa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2668" spc="37">
                <a:solidFill>
                  <a:srgbClr val="C00000"/>
                </a:solidFill>
                <a:latin typeface="Alice"/>
                <a:ea typeface="Alice"/>
                <a:cs typeface="Alice"/>
                <a:sym typeface="Alice"/>
              </a:rPr>
              <a:t>Front-End SDKs &amp; Integration Tools</a:t>
            </a:r>
          </a:p>
          <a:p>
            <a:pPr algn="l" marL="576181" indent="-288090" lvl="1">
              <a:lnSpc>
                <a:spcPts val="3576"/>
              </a:lnSpc>
              <a:buFont typeface="Arial"/>
              <a:buChar char="•"/>
            </a:pPr>
            <a:r>
              <a:rPr lang="en-US" sz="2668" spc="3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Chainlit,Gradio/streamlit ,matrix protocols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2668" spc="37">
                <a:solidFill>
                  <a:srgbClr val="C00000"/>
                </a:solidFill>
                <a:latin typeface="Alice"/>
                <a:ea typeface="Alice"/>
                <a:cs typeface="Alice"/>
                <a:sym typeface="Alice"/>
              </a:rPr>
              <a:t>Natural Language Processing  and Speech Analytics, and Emotion AI</a:t>
            </a:r>
          </a:p>
          <a:p>
            <a:pPr algn="l" marL="576181" indent="-288090" lvl="1">
              <a:lnSpc>
                <a:spcPts val="3576"/>
              </a:lnSpc>
              <a:buFont typeface="Arial"/>
              <a:buChar char="•"/>
            </a:pPr>
            <a:r>
              <a:rPr lang="en-US" sz="2668" spc="3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Acoustic Feature Extraction Tools (openSMILE, Librosa)</a:t>
            </a:r>
          </a:p>
          <a:p>
            <a:pPr algn="l" marL="576181" indent="-288090" lvl="1">
              <a:lnSpc>
                <a:spcPts val="3576"/>
              </a:lnSpc>
              <a:buFont typeface="Arial"/>
              <a:buChar char="•"/>
            </a:pPr>
            <a:r>
              <a:rPr lang="en-US" sz="2668" spc="3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Open-Source Speech Models (Wav2Vec 2.0, Whisper)</a:t>
            </a:r>
          </a:p>
          <a:p>
            <a:pPr algn="l" marL="576181" indent="-288090" lvl="1">
              <a:lnSpc>
                <a:spcPts val="3576"/>
              </a:lnSpc>
              <a:buFont typeface="Arial"/>
              <a:buChar char="•"/>
            </a:pPr>
            <a:r>
              <a:rPr lang="en-US" sz="2668" spc="3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Clinical NLP &amp; Transformer Models (MentalBERT, RoBERTa, SpaCy, </a:t>
            </a:r>
            <a:r>
              <a:rPr lang="en-US" sz="2668" spc="37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SpeechBrain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72300" y="2483954"/>
            <a:ext cx="11072603" cy="722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We are developing an interactive chatbot for real time stress and trauma assessment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What will it provide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1. Real time Audio Video Analysis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2. Special care for: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• Senior citizens        • Minors          • Disabled people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3. Emergency SOS and Rapid response button which will directly send signals through the NHA helpline number.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4. Basic psychological analysis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5. Trauma and medical history analysis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6. Detect suicidal thoughts tendencies through real time interaction.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7. Peaceful themed 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8. User guide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9. Immediate care regarding health like breathing exercises, first aid, words of assurance, CPR etc.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10. Limitations.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11. Recovery report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12. Sleep analysis and tips for sleep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13. Weekly Mood tracker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14. Local emergency helpline numbers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15. Chatbot able to communicate in Languages and regional dialects</a:t>
            </a:r>
          </a:p>
          <a:p>
            <a:pPr algn="ctr">
              <a:lnSpc>
                <a:spcPts val="2614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16. NHA can analyse high risk, low risk and moderate cases regionally and take actions accordingly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02350" y="1707223"/>
            <a:ext cx="95854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0"/>
              </a:lnSpc>
              <a:spcBef>
                <a:spcPct val="0"/>
              </a:spcBef>
            </a:pPr>
            <a:r>
              <a:rPr lang="en-US" sz="3042">
                <a:solidFill>
                  <a:srgbClr val="1F497D"/>
                </a:solidFill>
                <a:latin typeface="Alice Bold"/>
                <a:ea typeface="Alice Bold"/>
                <a:cs typeface="Alice Bold"/>
                <a:sym typeface="Alice Bold"/>
              </a:rPr>
              <a:t>METHADOLOGY AND PROCESS OF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68797" y="0"/>
            <a:ext cx="2804903" cy="1324422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673924" y="1189869"/>
            <a:ext cx="7532494" cy="3750482"/>
          </a:xfrm>
          <a:custGeom>
            <a:avLst/>
            <a:gdLst/>
            <a:ahLst/>
            <a:cxnLst/>
            <a:rect r="r" b="b" t="t" l="l"/>
            <a:pathLst>
              <a:path h="3750482" w="7532494">
                <a:moveTo>
                  <a:pt x="0" y="0"/>
                </a:moveTo>
                <a:lnTo>
                  <a:pt x="7532494" y="0"/>
                </a:lnTo>
                <a:lnTo>
                  <a:pt x="7532494" y="3750481"/>
                </a:lnTo>
                <a:lnTo>
                  <a:pt x="0" y="3750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08" t="-6871" r="0" b="-382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781" y="-71438"/>
            <a:ext cx="1834361" cy="1834361"/>
          </a:xfrm>
          <a:custGeom>
            <a:avLst/>
            <a:gdLst/>
            <a:ahLst/>
            <a:cxnLst/>
            <a:rect r="r" b="b" t="t" l="l"/>
            <a:pathLst>
              <a:path h="1834361" w="1834361">
                <a:moveTo>
                  <a:pt x="0" y="0"/>
                </a:moveTo>
                <a:lnTo>
                  <a:pt x="1834362" y="0"/>
                </a:lnTo>
                <a:lnTo>
                  <a:pt x="1834362" y="1834362"/>
                </a:lnTo>
                <a:lnTo>
                  <a:pt x="0" y="1834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132013" y="21094"/>
            <a:ext cx="12023974" cy="1649297"/>
            <a:chOff x="0" y="0"/>
            <a:chExt cx="14485201" cy="19868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85201" cy="1986897"/>
            </a:xfrm>
            <a:custGeom>
              <a:avLst/>
              <a:gdLst/>
              <a:ahLst/>
              <a:cxnLst/>
              <a:rect r="r" b="b" t="t" l="l"/>
              <a:pathLst>
                <a:path h="1986897" w="14485201">
                  <a:moveTo>
                    <a:pt x="0" y="0"/>
                  </a:moveTo>
                  <a:lnTo>
                    <a:pt x="14485201" y="0"/>
                  </a:lnTo>
                  <a:lnTo>
                    <a:pt x="14485201" y="1986897"/>
                  </a:lnTo>
                  <a:lnTo>
                    <a:pt x="0" y="19868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688" r="-51503" b="-1727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485201" cy="1996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FEASIBILITY AND VIABILITY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-2781" y="1465281"/>
            <a:ext cx="16230600" cy="852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Viability Analysis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Ethical &amp; Legal Concerns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Consent Issues: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Some victims may become less willing to report incidents.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Bias &amp; Misclassification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False Negatives and False Positive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Data Privacy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Sensitive information includes: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Strong compliance with the Digital Personal Data Protection (DPDP) Act is essential.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4. Human Oversight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should: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Recommend priority levels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should NOT: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Automatically reject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Automatically deprioritize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Automatically close cases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5. Accountability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r>
              <a:rPr lang="en-US" b="true" sz="297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If an AI system makes a wrong recommendation and harm occurs, responsibility becomes unclear.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39375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271943" y="0"/>
            <a:ext cx="1974715" cy="932423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294462" y="1572617"/>
            <a:ext cx="11398931" cy="7050292"/>
          </a:xfrm>
          <a:custGeom>
            <a:avLst/>
            <a:gdLst/>
            <a:ahLst/>
            <a:cxnLst/>
            <a:rect r="r" b="b" t="t" l="l"/>
            <a:pathLst>
              <a:path h="7050292" w="11398931">
                <a:moveTo>
                  <a:pt x="0" y="0"/>
                </a:moveTo>
                <a:lnTo>
                  <a:pt x="11398931" y="0"/>
                </a:lnTo>
                <a:lnTo>
                  <a:pt x="11398931" y="7050292"/>
                </a:lnTo>
                <a:lnTo>
                  <a:pt x="0" y="7050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7" t="0" r="-1903" b="-1062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0"/>
            <a:ext cx="1572617" cy="1572617"/>
          </a:xfrm>
          <a:custGeom>
            <a:avLst/>
            <a:gdLst/>
            <a:ahLst/>
            <a:cxnLst/>
            <a:rect r="r" b="b" t="t" l="l"/>
            <a:pathLst>
              <a:path h="1572617" w="1572617">
                <a:moveTo>
                  <a:pt x="0" y="0"/>
                </a:moveTo>
                <a:lnTo>
                  <a:pt x="1572617" y="0"/>
                </a:lnTo>
                <a:lnTo>
                  <a:pt x="1572617" y="1572617"/>
                </a:lnTo>
                <a:lnTo>
                  <a:pt x="0" y="1572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52967" y="2381326"/>
            <a:ext cx="6468357" cy="5622502"/>
          </a:xfrm>
          <a:custGeom>
            <a:avLst/>
            <a:gdLst/>
            <a:ahLst/>
            <a:cxnLst/>
            <a:rect r="r" b="b" t="t" l="l"/>
            <a:pathLst>
              <a:path h="5622502" w="6468357">
                <a:moveTo>
                  <a:pt x="0" y="0"/>
                </a:moveTo>
                <a:lnTo>
                  <a:pt x="6468356" y="0"/>
                </a:lnTo>
                <a:lnTo>
                  <a:pt x="6468356" y="5622502"/>
                </a:lnTo>
                <a:lnTo>
                  <a:pt x="0" y="5622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807" t="-14616" r="-3356" b="-1737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92100" y="9739312"/>
            <a:ext cx="4267200" cy="547688"/>
            <a:chOff x="0" y="0"/>
            <a:chExt cx="56896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14147" y="2248"/>
            <a:ext cx="2173853" cy="1026452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287499" y="2248"/>
            <a:ext cx="13713003" cy="10284752"/>
          </a:xfrm>
          <a:custGeom>
            <a:avLst/>
            <a:gdLst/>
            <a:ahLst/>
            <a:cxnLst/>
            <a:rect r="r" b="b" t="t" l="l"/>
            <a:pathLst>
              <a:path h="10284752" w="13713003">
                <a:moveTo>
                  <a:pt x="0" y="0"/>
                </a:moveTo>
                <a:lnTo>
                  <a:pt x="13713002" y="0"/>
                </a:lnTo>
                <a:lnTo>
                  <a:pt x="13713002" y="10284752"/>
                </a:lnTo>
                <a:lnTo>
                  <a:pt x="0" y="10284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DAHTmUEF6ys</dc:identifier>
  <dcterms:modified xsi:type="dcterms:W3CDTF">2011-08-01T06:04:30Z</dcterms:modified>
  <cp:revision>1</cp:revision>
  <dc:title>Problem Statement ID – 26093 Problem Statement Title – Theme- PS Category- Software/Hardware Team ID- Team Name (Registered on portal)</dc:title>
</cp:coreProperties>
</file>